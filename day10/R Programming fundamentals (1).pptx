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5" Type="http://schemas.openxmlformats.org/officeDocument/2006/relationships/slide" Target="slides/slide20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f839cd1de8_0_1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f839cd1de8_0_1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f839cd1de8_0_1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f839cd1de8_0_1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f839cd1de8_0_1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f839cd1de8_0_1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f839cd1de8_0_1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f839cd1de8_0_1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f839cd1de8_0_1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f839cd1de8_0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f839cd1de8_0_1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f839cd1de8_0_1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f839cd1de8_0_1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f839cd1de8_0_1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f839cd1de8_0_1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f839cd1de8_0_1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f839cd1de8_0_1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f839cd1de8_0_1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f839cd1de8_0_1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f839cd1de8_0_1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f839cd1de8_0_1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3f839cd1de8_0_1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f839cd1de8_0_1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3f839cd1de8_0_1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f839cd1de8_0_1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3f839cd1de8_0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f839cd1de8_0_1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3f839cd1de8_0_1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f839cd1de8_0_1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3f839cd1de8_0_1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f839cd1de8_0_1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3f839cd1de8_0_1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f839cd1de8_0_1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3f839cd1de8_0_1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f839cd1de8_0_1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3f839cd1de8_0_1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f839cd1de8_0_2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3f839cd1de8_0_2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2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dark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●"/>
              <a:defRPr sz="1800">
                <a:solidFill>
                  <a:schemeClr val="lt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2"/>
                </a:solidFill>
              </a:defRPr>
            </a:lvl1pPr>
            <a:lvl2pPr lvl="1" algn="r">
              <a:buNone/>
              <a:defRPr sz="1000">
                <a:solidFill>
                  <a:schemeClr val="lt2"/>
                </a:solidFill>
              </a:defRPr>
            </a:lvl2pPr>
            <a:lvl3pPr lvl="2" algn="r">
              <a:buNone/>
              <a:defRPr sz="1000">
                <a:solidFill>
                  <a:schemeClr val="lt2"/>
                </a:solidFill>
              </a:defRPr>
            </a:lvl3pPr>
            <a:lvl4pPr lvl="3" algn="r">
              <a:buNone/>
              <a:defRPr sz="1000">
                <a:solidFill>
                  <a:schemeClr val="lt2"/>
                </a:solidFill>
              </a:defRPr>
            </a:lvl4pPr>
            <a:lvl5pPr lvl="4" algn="r">
              <a:buNone/>
              <a:defRPr sz="1000">
                <a:solidFill>
                  <a:schemeClr val="lt2"/>
                </a:solidFill>
              </a:defRPr>
            </a:lvl5pPr>
            <a:lvl6pPr lvl="5" algn="r">
              <a:buNone/>
              <a:defRPr sz="1000">
                <a:solidFill>
                  <a:schemeClr val="lt2"/>
                </a:solidFill>
              </a:defRPr>
            </a:lvl6pPr>
            <a:lvl7pPr lvl="6" algn="r">
              <a:buNone/>
              <a:defRPr sz="1000">
                <a:solidFill>
                  <a:schemeClr val="lt2"/>
                </a:solidFill>
              </a:defRPr>
            </a:lvl7pPr>
            <a:lvl8pPr lvl="7" algn="r">
              <a:buNone/>
              <a:defRPr sz="1000">
                <a:solidFill>
                  <a:schemeClr val="lt2"/>
                </a:solidFill>
              </a:defRPr>
            </a:lvl8pPr>
            <a:lvl9pPr lvl="8" algn="r">
              <a:buNone/>
              <a:defRPr sz="1000">
                <a:solidFill>
                  <a:schemeClr val="l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 programming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Content taken from W3 Schools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idx="1" type="body"/>
          </p:nvPr>
        </p:nvSpPr>
        <p:spPr>
          <a:xfrm>
            <a:off x="534275" y="1269775"/>
            <a:ext cx="35820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lang="en" sz="1550"/>
              <a:t># numeric</a:t>
            </a:r>
            <a:endParaRPr sz="155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lang="en" sz="1550"/>
              <a:t>x &lt;- 10.5</a:t>
            </a:r>
            <a:endParaRPr sz="155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lang="en" sz="1550"/>
              <a:t>class(x)</a:t>
            </a:r>
            <a:endParaRPr sz="155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lang="en" sz="1550"/>
              <a:t># integer</a:t>
            </a:r>
            <a:endParaRPr sz="155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lang="en" sz="1550"/>
              <a:t>x &lt;- 1000L</a:t>
            </a:r>
            <a:endParaRPr sz="155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lang="en" sz="1550"/>
              <a:t>class(x)</a:t>
            </a:r>
            <a:endParaRPr sz="155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275"/>
              <a:buNone/>
            </a:pPr>
            <a:r>
              <a:t/>
            </a:r>
            <a:endParaRPr sz="1550"/>
          </a:p>
        </p:txBody>
      </p:sp>
      <p:sp>
        <p:nvSpPr>
          <p:cNvPr id="61" name="Google Shape;61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Types</a:t>
            </a:r>
            <a:endParaRPr/>
          </a:p>
        </p:txBody>
      </p:sp>
      <p:sp>
        <p:nvSpPr>
          <p:cNvPr id="62" name="Google Shape;62;p14"/>
          <p:cNvSpPr txBox="1"/>
          <p:nvPr>
            <p:ph idx="1" type="body"/>
          </p:nvPr>
        </p:nvSpPr>
        <p:spPr>
          <a:xfrm>
            <a:off x="4790150" y="1117400"/>
            <a:ext cx="35820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lang="en" sz="1550"/>
              <a:t># complex</a:t>
            </a:r>
            <a:endParaRPr sz="155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lang="en" sz="1550"/>
              <a:t>x &lt;- 9i + 3</a:t>
            </a:r>
            <a:endParaRPr sz="155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lang="en" sz="1550"/>
              <a:t>class(x)</a:t>
            </a:r>
            <a:endParaRPr sz="155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lang="en" sz="1550"/>
              <a:t># character/string</a:t>
            </a:r>
            <a:endParaRPr sz="155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lang="en" sz="1550"/>
              <a:t>x &lt;- "R is exciting"</a:t>
            </a:r>
            <a:endParaRPr sz="155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lang="en" sz="1550"/>
              <a:t>class(x)</a:t>
            </a:r>
            <a:endParaRPr sz="155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lang="en" sz="1550"/>
              <a:t># logical/boolean</a:t>
            </a:r>
            <a:endParaRPr sz="155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lang="en" sz="1550"/>
              <a:t>x &lt;- TRUE</a:t>
            </a:r>
            <a:endParaRPr sz="155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275"/>
              <a:buNone/>
            </a:pPr>
            <a:r>
              <a:rPr lang="en" sz="1550"/>
              <a:t>class(x)</a:t>
            </a:r>
            <a:endParaRPr sz="155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Type conversion</a:t>
            </a:r>
            <a:endParaRPr/>
          </a:p>
        </p:txBody>
      </p:sp>
      <p:sp>
        <p:nvSpPr>
          <p:cNvPr id="68" name="Google Shape;68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523"/>
              <a:buNone/>
            </a:pPr>
            <a:r>
              <a:rPr lang="en" sz="1055"/>
              <a:t>x &lt;- 1L # integer</a:t>
            </a:r>
            <a:endParaRPr sz="1055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523"/>
              <a:buNone/>
            </a:pPr>
            <a:r>
              <a:rPr lang="en" sz="1055"/>
              <a:t>y &lt;- 2 # numeric</a:t>
            </a:r>
            <a:endParaRPr sz="1055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523"/>
              <a:buNone/>
            </a:pPr>
            <a:r>
              <a:rPr lang="en" sz="1055"/>
              <a:t># convert from integer to numeric:</a:t>
            </a:r>
            <a:endParaRPr sz="1055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523"/>
              <a:buNone/>
            </a:pPr>
            <a:r>
              <a:rPr lang="en" sz="1055"/>
              <a:t>a &lt;- as.numeric(x)</a:t>
            </a:r>
            <a:endParaRPr sz="1055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523"/>
              <a:buNone/>
            </a:pPr>
            <a:r>
              <a:rPr lang="en" sz="1055"/>
              <a:t># convert from numeric to integer:</a:t>
            </a:r>
            <a:endParaRPr sz="1055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523"/>
              <a:buNone/>
            </a:pPr>
            <a:r>
              <a:rPr lang="en" sz="1055"/>
              <a:t>b &lt;- as.integer(y)</a:t>
            </a:r>
            <a:endParaRPr sz="1055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523"/>
              <a:buNone/>
            </a:pPr>
            <a:r>
              <a:rPr lang="en" sz="1055"/>
              <a:t># print values of x and y</a:t>
            </a:r>
            <a:endParaRPr sz="1055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523"/>
              <a:buNone/>
            </a:pPr>
            <a:r>
              <a:rPr lang="en" sz="1055"/>
              <a:t>x</a:t>
            </a:r>
            <a:endParaRPr sz="1055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523"/>
              <a:buNone/>
            </a:pPr>
            <a:r>
              <a:rPr lang="en" sz="1055"/>
              <a:t>y</a:t>
            </a:r>
            <a:endParaRPr sz="1055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523"/>
              <a:buNone/>
            </a:pPr>
            <a:r>
              <a:rPr lang="en" sz="1055"/>
              <a:t># print the class name of a and b</a:t>
            </a:r>
            <a:endParaRPr sz="1055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523"/>
              <a:buNone/>
            </a:pPr>
            <a:r>
              <a:rPr lang="en" sz="1055"/>
              <a:t>class(a)</a:t>
            </a:r>
            <a:endParaRPr sz="1055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523"/>
              <a:buNone/>
            </a:pPr>
            <a:r>
              <a:rPr lang="en" sz="1055"/>
              <a:t>class(b)</a:t>
            </a:r>
            <a:endParaRPr sz="1055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Built-in Math Functions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max(5, 10, 15)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min(5, 10, 15)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sqrt(16)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abs(-4.7)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ceiling(1.4)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floor(1.4)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If ... Else</a:t>
            </a:r>
            <a:endParaRPr/>
          </a:p>
        </p:txBody>
      </p:sp>
      <p:sp>
        <p:nvSpPr>
          <p:cNvPr id="80" name="Google Shape;80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&lt;- 200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b &lt;- 33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if (b &gt; a) {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 print("b is greater than a")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} else if (a == b) {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 print("a and b are equal")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} else {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 print("a is greater than b")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}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While</a:t>
            </a:r>
            <a:endParaRPr/>
          </a:p>
        </p:txBody>
      </p:sp>
      <p:sp>
        <p:nvSpPr>
          <p:cNvPr id="86" name="Google Shape;86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 &lt;- 1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while (i &lt; 6) {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 print(i)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 i &lt;- i + 1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}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Structures</a:t>
            </a:r>
            <a:endParaRPr/>
          </a:p>
        </p:txBody>
      </p:sp>
      <p:sp>
        <p:nvSpPr>
          <p:cNvPr id="92" name="Google Shape;92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Vectors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Lists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Matrices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Arrays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Data Frames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Vectors</a:t>
            </a:r>
            <a:endParaRPr/>
          </a:p>
        </p:txBody>
      </p:sp>
      <p:sp>
        <p:nvSpPr>
          <p:cNvPr id="98" name="Google Shape;98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# Vector of strings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fruits &lt;- c("banana", "apple", "orange")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# Print fruits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f</a:t>
            </a:r>
            <a:r>
              <a:rPr lang="en"/>
              <a:t>ruits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# Vector with numerical values in a sequence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numbers &lt;- 1:10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numbers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Lists</a:t>
            </a:r>
            <a:endParaRPr/>
          </a:p>
        </p:txBody>
      </p:sp>
      <p:sp>
        <p:nvSpPr>
          <p:cNvPr id="104" name="Google Shape;104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thislist &lt;- list("apple", "banana", "cherry")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thislist[1] &lt;- "blackcurrant"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# Print the updated list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thislist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Matrix</a:t>
            </a:r>
            <a:endParaRPr/>
          </a:p>
        </p:txBody>
      </p:sp>
      <p:sp>
        <p:nvSpPr>
          <p:cNvPr id="110" name="Google Shape;110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# Create a matrix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thismatrix &lt;- matrix(c(1,2,3,4,5,6), nrow = 3, ncol = 2)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# Print the matrix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</a:t>
            </a:r>
            <a:r>
              <a:rPr lang="en"/>
              <a:t>hismatrix[1, 2]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Note: There are a lot more other operations in matrix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Arrays</a:t>
            </a:r>
            <a:endParaRPr/>
          </a:p>
        </p:txBody>
      </p:sp>
      <p:sp>
        <p:nvSpPr>
          <p:cNvPr id="116" name="Google Shape;116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# An array with one dimension with values ranging from 1 to 24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thisarray &lt;- c(1:24)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thisarray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# An array with more than one dimension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multiarray &lt;- array(thisarray, dim = c(4, 3, 2))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multiarray[2, 3, 2]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Frames</a:t>
            </a:r>
            <a:endParaRPr/>
          </a:p>
        </p:txBody>
      </p:sp>
      <p:sp>
        <p:nvSpPr>
          <p:cNvPr id="122" name="Google Shape;122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Data_Frame &lt;- data.frame (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 Training = c("Strength", "Stamina", "Other"),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 Pulse = c(100, 150, 120),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 Duration = c(60, 30, 45)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Data_Frame[1]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Data_Frame[["Training"]]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Data_Frame$Training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Factors</a:t>
            </a:r>
            <a:endParaRPr/>
          </a:p>
        </p:txBody>
      </p:sp>
      <p:sp>
        <p:nvSpPr>
          <p:cNvPr id="128" name="Google Shape;128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# Create a factor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music_genre &lt;- factor(c("Jazz", "Rock", "Classic", "Classic", "Pop", "Jazz", "Rock", "Jazz"))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# Print the factor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music_genre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For loop</a:t>
            </a:r>
            <a:endParaRPr/>
          </a:p>
        </p:txBody>
      </p:sp>
      <p:sp>
        <p:nvSpPr>
          <p:cNvPr id="134" name="Google Shape;134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for (x in 1:10) {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 print(x)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}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For loop</a:t>
            </a:r>
            <a:endParaRPr/>
          </a:p>
        </p:txBody>
      </p:sp>
      <p:sp>
        <p:nvSpPr>
          <p:cNvPr id="140" name="Google Shape;140;p2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fruits &lt;- list("apple", "banana", "cherry")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for (x in fruits) {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 if (x == "banana") {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   </a:t>
            </a:r>
            <a:r>
              <a:rPr lang="en"/>
              <a:t>n</a:t>
            </a:r>
            <a:r>
              <a:rPr lang="en"/>
              <a:t>ext                                                        # continue statement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 }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 print(x)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}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Visualization in R</a:t>
            </a:r>
            <a:endParaRPr/>
          </a:p>
        </p:txBody>
      </p:sp>
      <p:sp>
        <p:nvSpPr>
          <p:cNvPr id="146" name="Google Shape;146;p2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Plot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Line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Scatterplot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Pie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Bar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Plot/ Scatterplot</a:t>
            </a:r>
            <a:endParaRPr/>
          </a:p>
        </p:txBody>
      </p:sp>
      <p:sp>
        <p:nvSpPr>
          <p:cNvPr id="152" name="Google Shape;152;p2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x &lt;- c(1, 2, 3, 4, 5)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y &lt;- c(3, 7, 8, 9, 12)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plot(x, y, main="My Graph", xlab="The x-axis", ylab="The y axis")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line</a:t>
            </a:r>
            <a:endParaRPr/>
          </a:p>
        </p:txBody>
      </p:sp>
      <p:sp>
        <p:nvSpPr>
          <p:cNvPr id="158" name="Google Shape;158;p3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x &lt;- c(1, 2, 3, 4, 5)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y &lt;- c(3, 7, 8, 9, 12)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plot(x, y, type="l", main="My Graph", xlab="The x-axis", ylab="The y axis")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Pie</a:t>
            </a:r>
            <a:endParaRPr/>
          </a:p>
        </p:txBody>
      </p:sp>
      <p:sp>
        <p:nvSpPr>
          <p:cNvPr id="164" name="Google Shape;164;p3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# Create a vector of pies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x &lt;- c(10,20,30,40)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# Create a vector of labels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mylabel &lt;- c("Apples", "Bananas", "Cherries", "Dates")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# Create a vector of colors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colors &lt;- c("blue", "yellow", "green", "black")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# Display the pie chart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pie(x, label = mylabel, main = "Pie Chart", col = colors)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# Display the explanation box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legend("bottomright", mylabel, fill = colors)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Bar</a:t>
            </a:r>
            <a:endParaRPr/>
          </a:p>
        </p:txBody>
      </p:sp>
      <p:sp>
        <p:nvSpPr>
          <p:cNvPr id="170" name="Google Shape;170;p3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x &lt;- c("A", "B", "C", "D")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y &lt;- c(2, 4, 6, 8)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barplot(y, names.arg = x, width = c(1,2,3,4))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Dark">
  <a:themeElements>
    <a:clrScheme name="Simple Dark">
      <a:dk1>
        <a:srgbClr val="FFFFFF"/>
      </a:dk1>
      <a:lt1>
        <a:srgbClr val="212121"/>
      </a:lt1>
      <a:dk2>
        <a:srgbClr val="303030"/>
      </a:dk2>
      <a:lt2>
        <a:srgbClr val="ADADAD"/>
      </a:lt2>
      <a:accent1>
        <a:srgbClr val="009688"/>
      </a:accent1>
      <a:accent2>
        <a:srgbClr val="EEEEEE"/>
      </a:accent2>
      <a:accent3>
        <a:srgbClr val="78909C"/>
      </a:accent3>
      <a:accent4>
        <a:srgbClr val="FFAB40"/>
      </a:accent4>
      <a:accent5>
        <a:srgbClr val="4DD0E1"/>
      </a:accent5>
      <a:accent6>
        <a:srgbClr val="EEFF41"/>
      </a:accent6>
      <a:hlink>
        <a:srgbClr val="4DD0E1"/>
      </a:hlink>
      <a:folHlink>
        <a:srgbClr val="4DD0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